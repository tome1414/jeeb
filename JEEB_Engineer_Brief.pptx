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0" y="0"/>
            <a:ext cx="2560320" cy="20116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JEEB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CCFF"/>
                </a:solidFill>
              </a:rPr>
              <a:t>タイ発・飲食店ディスカバリープラットフォーム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99CC"/>
                </a:solidFill>
              </a:rPr>
              <a:t>エンジニア向け開発ブリーフィング資料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445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DFF"/>
                </a:solidFill>
              </a:rPr>
              <a:t>Find your perfect table in Bangkok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572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FF"/>
                </a:solidFill>
              </a:rPr>
              <a:t>v1.0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0A2E"/>
                </a:solidFill>
              </a:rPr>
              <a:t>何を作るのか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6"/>
                </a:solidFill>
              </a:rPr>
              <a:t>プロジェクト概要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731520"/>
            <a:ext cx="2651760" cy="201168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2512" y="777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6FF"/>
                </a:solidFill>
              </a:rPr>
              <a:t>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155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タイに食べログがない。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それが最大のチャンス。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194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066FF"/>
                </a:solidFill>
              </a:rPr>
              <a:t>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502920" cy="47548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</a:rPr>
              <a:t>🗺️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2E"/>
                </a:solidFill>
              </a:rPr>
              <a:t>多言語飲食店ポータル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463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6"/>
                </a:solidFill>
              </a:rPr>
              <a:t>バンコク起点 → タイ全土 → アジアへ。全業態対応。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103120"/>
            <a:ext cx="502920" cy="47548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" y="21214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2E"/>
                </a:solidFill>
              </a:rPr>
              <a:t>AIコンシェルジュ検索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774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6"/>
                </a:solidFill>
              </a:rPr>
              <a:t>会話形式で最適な店を提案（Claude API連携）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017520"/>
            <a:ext cx="502920" cy="47548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" y="30358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</a:rPr>
              <a:t>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2E"/>
                </a:solidFill>
              </a:rPr>
              <a:t>店舗向け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2918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6"/>
                </a:solidFill>
              </a:rPr>
              <a:t>月額 2,000〜5,000 THB で多言語ページ + MEO + 予約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931920"/>
            <a:ext cx="502920" cy="47548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" y="395020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</a:rP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2E"/>
                </a:solidFill>
              </a:rPr>
              <a:t>Web → PWA → ネイティブ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2062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6"/>
                </a:solidFill>
              </a:rPr>
              <a:t>段階的にアプリ化。APIは最初からモバイル対応設計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0116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2E"/>
                </a:solidFill>
              </a:rPr>
              <a:t>既にここまで動いている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6"/>
                </a:solidFill>
              </a:rPr>
              <a:t>現行モックアップ構成（GitHub管理）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78992"/>
            <a:ext cx="4279392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78992"/>
            <a:ext cx="427939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1704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2E"/>
                </a:solidFill>
              </a:rPr>
              <a:t>🏠  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46303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FF"/>
                </a:solidFill>
              </a:rPr>
              <a:t>トップページ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71907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カード一覧・地図表示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会員システム連携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21284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フィルター・お気に入り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1728" y="1078992"/>
            <a:ext cx="4279392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81728" y="1078992"/>
            <a:ext cx="427939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1704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2E"/>
                </a:solidFill>
              </a:rPr>
              <a:t>🤖  search.html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146303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FF"/>
                </a:solidFill>
              </a:rPr>
              <a:t>AIコンシェルジュ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71907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6シナリオカード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音声入力対応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21284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会話→結果画面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52928"/>
            <a:ext cx="4279392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52928"/>
            <a:ext cx="427939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29443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2E"/>
                </a:solidFill>
              </a:rPr>
              <a:t>🍽️  restaurant.html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32369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FF"/>
                </a:solidFill>
              </a:rPr>
              <a:t>店舗詳細ページ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349300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比較モーダル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373989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前払い決済UI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398678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LINE問い合わせ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2852928"/>
            <a:ext cx="4279392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81728" y="2852928"/>
            <a:ext cx="427939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29443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2E"/>
                </a:solidFill>
              </a:rPr>
              <a:t>👤  profile.html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32369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FF"/>
                </a:solidFill>
              </a:rPr>
              <a:t>会員プロフィール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349300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Silver/Gold/Blackランク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8888" y="373989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お気に入り・訪問履歴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398678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会員特典表示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4507992"/>
            <a:ext cx="8741664" cy="38404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535424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2E"/>
                </a:solidFill>
              </a:rPr>
              <a:t>＋ 既存アセット: soi24-menu（5言語対応デジタルメニュー）— 統合・拡張予定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011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2E"/>
                </a:solidFill>
              </a:rPr>
              <a:t>マネタイズ構造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6"/>
                </a:solidFill>
              </a:rPr>
              <a:t>B2B（店舗側）+ B2C（ユーザー側）の2軸収益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78992"/>
            <a:ext cx="4160520" cy="32004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88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店舗側  B2B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536192"/>
            <a:ext cx="416052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45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💳  ¥2,000 THB /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0195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多言語ページ + MEO対応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042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💳  ¥5,000 THB /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0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上記 + 予約システム連携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6265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⚡  前払い決済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21868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3日入金（競合は2〜4週間）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210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📈  上位表示オプション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877056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＋3,000〜10,000 THB/月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078992"/>
            <a:ext cx="437083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078992"/>
            <a:ext cx="437083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1887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A2E"/>
                </a:solidFill>
              </a:rPr>
              <a:t>ユーザー側  B2C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536192"/>
            <a:ext cx="4370832" cy="2743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6459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2E"/>
                </a:solidFill>
              </a:rPr>
              <a:t>🥈  Silver（無料）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9202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検索・AIコンシェルジュ全機能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39572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2E"/>
                </a:solidFill>
              </a:rPr>
              <a:t>🥇  Gold（〜250 THB/月）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67004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加盟店3%割引・限定情報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14553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2E"/>
                </a:solidFill>
              </a:rPr>
              <a:t>⬛  Black（招待制）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41985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限定予約・専属コンシェルジュ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4370832"/>
            <a:ext cx="8741664" cy="5029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42569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🎯  加盟 200 店で月次黒字化の見込み　｜　LTV / CAC 比率：推定 8〜15 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011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2E"/>
                </a:solidFill>
              </a:rPr>
              <a:t>推奨技術スタック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6"/>
                </a:solidFill>
              </a:rPr>
              <a:t>スケールを見据えたモダン構成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78992"/>
            <a:ext cx="285292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78992"/>
            <a:ext cx="2852928" cy="4572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🖥️ 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1664208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Next.js 14 (App Router)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322576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140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Tailwind CSS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980944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723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Leaflet.js / Google Maps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3639312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Web Speech API（音声入力）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078992"/>
            <a:ext cx="285292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078992"/>
            <a:ext cx="2852928" cy="4572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⚙️  Backend &amp;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79" y="1664208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1755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Node.js + Fastify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79" y="2322576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24140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PostgreSQL + Redis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79" y="2980944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2152" y="30723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Elasticsearch（店舗検索）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79" y="3639312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2152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Anthropic Claude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1078992"/>
            <a:ext cx="285292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1078992"/>
            <a:ext cx="2852928" cy="4572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☁️  Infrastructure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8232" y="1664208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1755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AWS / GCP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8232" y="2322576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24140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Omise 決済（タイ特化）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28232" y="2980944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30723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LINE Messaging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28232" y="3639312"/>
            <a:ext cx="2578608" cy="457200"/>
          </a:xfrm>
          <a:prstGeom prst="rect">
            <a:avLst/>
          </a:prstGeom>
          <a:solidFill>
            <a:srgbClr val="F5F5F3"/>
          </a:solidFill>
          <a:ln w="6350"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Firebase（PWA・Push通知）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011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2E"/>
                </a:solidFill>
              </a:rPr>
              <a:t>メニュー × ソーシャルリアクション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6"/>
                </a:solidFill>
              </a:rPr>
              <a:t>soi24-menu（5言語対応）を統合し、料理1品ごとにSNS的インタラクションを付加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78992"/>
            <a:ext cx="42793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78992"/>
            <a:ext cx="427939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170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2E"/>
                </a:solidFill>
              </a:rPr>
              <a:t>❤️  いいね &amp; 食べたい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53619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メニュー1品ごとにリアクション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856231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マイウィッシュリストに蓄積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1762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食べた後→レビューへ自動誘導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1728" y="1078992"/>
            <a:ext cx="42793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81728" y="1078992"/>
            <a:ext cx="427939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170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2E"/>
                </a:solidFill>
              </a:rPr>
              <a:t>🌟  著名人バッジ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53619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インフルエンサー公式連携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1856231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「○○さんが食べたい」表示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1762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Verified済みで信頼性担保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2926080"/>
            <a:ext cx="42793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2926080"/>
            <a:ext cx="427939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3017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2E"/>
                </a:solidFill>
              </a:rPr>
              <a:t>📸  SNS話題バッジ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3832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TikTok・Instagram投稿と紐づけ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7033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コミュニティ報告→一定数で自動付与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402336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「バズってる一品」として訴求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1728" y="2926080"/>
            <a:ext cx="42793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81728" y="2926080"/>
            <a:ext cx="427939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3017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2E"/>
                </a:solidFill>
              </a:rPr>
              <a:t>📍  来店誘導プッシュ通知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33832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食べたい品の店舗に接近を検知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37033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「今すぐ食べられます」通知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402336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6"/>
                </a:solidFill>
              </a:rPr>
              <a:t>• GPS連動（PWA・ネイティブアプリ）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0116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2E"/>
                </a:solidFill>
              </a:rPr>
              <a:t>4フェーズ 開発ロードマップ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6"/>
                </a:solidFill>
              </a:rPr>
              <a:t>α版でまず事例を作り、数字で拡大を正当化する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8229600" cy="10972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828800" cy="9601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α版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〜2ヶ月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2048256"/>
            <a:ext cx="274320" cy="2743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1828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</a:rPr>
              <a:t>店舗掲載・検索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3347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</a:rPr>
              <a:t>会員登録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199339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6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01568"/>
            <a:ext cx="1828800" cy="365760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381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2E"/>
                </a:solidFill>
              </a:rPr>
              <a:t>🎯 50店舗登録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33472" y="1024128"/>
            <a:ext cx="1828800" cy="960120"/>
          </a:xfrm>
          <a:prstGeom prst="rect">
            <a:avLst/>
          </a:prstGeom>
          <a:solidFill>
            <a:srgbClr val="008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0789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β版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13898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〜4ヶ月</a:t>
            </a:r>
          </a:p>
        </p:txBody>
      </p:sp>
      <p:sp>
        <p:nvSpPr>
          <p:cNvPr id="19" name="Oval 18"/>
          <p:cNvSpPr/>
          <p:nvPr/>
        </p:nvSpPr>
        <p:spPr>
          <a:xfrm>
            <a:off x="3410712" y="2048256"/>
            <a:ext cx="274320" cy="274320"/>
          </a:xfrm>
          <a:prstGeom prst="ellipse">
            <a:avLst/>
          </a:prstGeom>
          <a:solidFill>
            <a:srgbClr val="008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331720"/>
            <a:ext cx="1828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237744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</a:rPr>
              <a:t>AI検索・予約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263347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</a:rPr>
              <a:t>LINE連携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199339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6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3472" y="3401568"/>
            <a:ext cx="1828800" cy="365760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9191" y="34381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2E"/>
                </a:solidFill>
              </a:rPr>
              <a:t>🎯 MAU 1,000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024128"/>
            <a:ext cx="1828800" cy="960120"/>
          </a:xfrm>
          <a:prstGeom prst="rect">
            <a:avLst/>
          </a:prstGeom>
          <a:solidFill>
            <a:srgbClr val="00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0789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v1.0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13898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〜6ヶ月</a:t>
            </a:r>
          </a:p>
        </p:txBody>
      </p:sp>
      <p:sp>
        <p:nvSpPr>
          <p:cNvPr id="29" name="Oval 28"/>
          <p:cNvSpPr/>
          <p:nvPr/>
        </p:nvSpPr>
        <p:spPr>
          <a:xfrm>
            <a:off x="5532120" y="2048256"/>
            <a:ext cx="274320" cy="274320"/>
          </a:xfrm>
          <a:prstGeom prst="ellipse">
            <a:avLst/>
          </a:prstGeom>
          <a:solidFill>
            <a:srgbClr val="00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331720"/>
            <a:ext cx="1828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237744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</a:rPr>
              <a:t>決済・多言語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63347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</a:rPr>
              <a:t>管理画面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99339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6"/>
                </a:solidFill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401568"/>
            <a:ext cx="1828800" cy="365760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34381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2E"/>
                </a:solidFill>
              </a:rPr>
              <a:t>🎯 加盟100店・黒字化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76288" y="1024128"/>
            <a:ext cx="1828800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7" y="10789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v2.0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7" y="13898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〜12ヶ月</a:t>
            </a:r>
          </a:p>
        </p:txBody>
      </p:sp>
      <p:sp>
        <p:nvSpPr>
          <p:cNvPr id="39" name="Oval 38"/>
          <p:cNvSpPr/>
          <p:nvPr/>
        </p:nvSpPr>
        <p:spPr>
          <a:xfrm>
            <a:off x="7653527" y="2048256"/>
            <a:ext cx="274320" cy="2743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76288" y="2331720"/>
            <a:ext cx="1828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7727" y="237744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</a:rPr>
              <a:t>バンコク全域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7" y="263347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</a:rPr>
              <a:t>分析レポート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76288" y="3401568"/>
            <a:ext cx="1828800" cy="365760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22007" y="34381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2E"/>
                </a:solidFill>
              </a:rPr>
              <a:t>🎯 加盟500店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将来の差別化機能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CCFF"/>
                </a:solidFill>
              </a:rPr>
              <a:t>実現すれば圧倒的な優位性 — 今は不確実、でも狙う価値がある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78992"/>
            <a:ext cx="4279392" cy="1234440"/>
          </a:xfrm>
          <a:prstGeom prst="rect">
            <a:avLst/>
          </a:prstGeom>
          <a:solidFill>
            <a:srgbClr val="121244"/>
          </a:solidFill>
          <a:ln w="9525">
            <a:solidFill>
              <a:srgbClr val="004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121615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</a:rPr>
              <a:t>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1887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メニュー自動デジタル化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紙メニュー撮影 → 即多言語化 (Claude Vision)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1078992"/>
            <a:ext cx="4279392" cy="1234440"/>
          </a:xfrm>
          <a:prstGeom prst="rect">
            <a:avLst/>
          </a:prstGeom>
          <a:solidFill>
            <a:srgbClr val="121244"/>
          </a:solidFill>
          <a:ln w="9525">
            <a:solidFill>
              <a:srgbClr val="004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121615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</a:rP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3248" y="11887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ソーシャルダイニング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「今夜一緒に食べませんか」マッチング機能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514600"/>
            <a:ext cx="4279392" cy="1234440"/>
          </a:xfrm>
          <a:prstGeom prst="rect">
            <a:avLst/>
          </a:prstGeom>
          <a:solidFill>
            <a:srgbClr val="121244"/>
          </a:solidFill>
          <a:ln w="9525">
            <a:solidFill>
              <a:srgbClr val="004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</a:rPr>
              <a:t>⏱️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624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リアルタイム空席通知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9443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キャンセル枠の自動再販売・プッシュ通知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1728" y="2514600"/>
            <a:ext cx="4279392" cy="1234440"/>
          </a:xfrm>
          <a:prstGeom prst="rect">
            <a:avLst/>
          </a:prstGeom>
          <a:solidFill>
            <a:srgbClr val="121244"/>
          </a:solidFill>
          <a:ln w="9525">
            <a:solidFill>
              <a:srgbClr val="004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8888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</a:rPr>
              <a:t>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2624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料理 AI カメラ判定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9443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写真から食べられる店を逆検索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3950208"/>
            <a:ext cx="4279392" cy="1234440"/>
          </a:xfrm>
          <a:prstGeom prst="rect">
            <a:avLst/>
          </a:prstGeom>
          <a:solidFill>
            <a:srgbClr val="121244"/>
          </a:solidFill>
          <a:ln w="9525">
            <a:solidFill>
              <a:srgbClr val="004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4087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</a:rPr>
              <a:t>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0599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JEEB コイン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3799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来店・レビューでポイント獲得→加盟店で使用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728" y="3950208"/>
            <a:ext cx="4279392" cy="1234440"/>
          </a:xfrm>
          <a:prstGeom prst="rect">
            <a:avLst/>
          </a:prstGeom>
          <a:solidFill>
            <a:srgbClr val="121244"/>
          </a:solidFill>
          <a:ln w="9525">
            <a:solidFill>
              <a:srgbClr val="004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4087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0A0A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3248" y="40599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店舗 AI アドバイス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8" y="43799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「火曜18時に空席多→クーポン推奨」自動提案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0116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2E"/>
                </a:solidFill>
              </a:rPr>
              <a:t>Web から アプリ への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6"/>
                </a:solidFill>
              </a:rPr>
              <a:t>段階的移行でリスクを最小化し、ユーザー体験を継続的に向上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78992"/>
            <a:ext cx="2852928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78992"/>
            <a:ext cx="2852928" cy="7772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1155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4447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Web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70992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（現在）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933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✓  モバイルファースト設計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505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✓  GitHub管理・即日デプロイ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077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✓  ブラウザで全機能利用可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331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66FF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078992"/>
            <a:ext cx="2852928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078992"/>
            <a:ext cx="2852928" cy="777240"/>
          </a:xfrm>
          <a:prstGeom prst="rect">
            <a:avLst/>
          </a:prstGeom>
          <a:solidFill>
            <a:srgbClr val="009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11155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447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0992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（β版後）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9933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✓  ホーム画面に追加可能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4505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✓  オフライン対応（メニューキャッシュ）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9077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✓  プッシュ通知対応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331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66FF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1078992"/>
            <a:ext cx="2852928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1078992"/>
            <a:ext cx="2852928" cy="777240"/>
          </a:xfrm>
          <a:prstGeom prst="rect">
            <a:avLst/>
          </a:prstGeom>
          <a:solidFill>
            <a:srgbClr val="00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11155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4447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Native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70992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（v2.0）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19933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✓  React Native / Flutter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4505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✓  GPS・カメラ・Apple Pay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9077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</a:rPr>
              <a:t>✓  App Store 申請・公開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4617720"/>
            <a:ext cx="8741664" cy="384048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2E"/>
                </a:solidFill>
              </a:rPr>
              <a:t>⚠️  バックエンド API は最初からモバイル対応の RESTful 設計で構築すること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開発リソース概算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8638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CCFF"/>
                </a:solidFill>
              </a:rPr>
              <a:t>α版（2ヶ月）を起点に、事例と数字を積み上げる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3474720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ロール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70432"/>
            <a:ext cx="1371600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2344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人数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170432"/>
            <a:ext cx="2743200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59" y="1234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月単価目安（THB）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81912"/>
            <a:ext cx="3474720" cy="438912"/>
          </a:xfrm>
          <a:prstGeom prst="rect">
            <a:avLst/>
          </a:prstGeom>
          <a:solidFill>
            <a:srgbClr val="121244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1581912"/>
            <a:ext cx="1371600" cy="438912"/>
          </a:xfrm>
          <a:prstGeom prst="rect">
            <a:avLst/>
          </a:prstGeom>
          <a:solidFill>
            <a:srgbClr val="121244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1581912"/>
            <a:ext cx="2743200" cy="438912"/>
          </a:xfrm>
          <a:prstGeom prst="rect">
            <a:avLst/>
          </a:prstGeom>
          <a:solidFill>
            <a:srgbClr val="121244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673352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フルスタックエンジニア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6733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2〜3名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16733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15〜30 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39112"/>
            <a:ext cx="3474720" cy="438912"/>
          </a:xfrm>
          <a:prstGeom prst="rect">
            <a:avLst/>
          </a:prstGeom>
          <a:solidFill>
            <a:srgbClr val="101038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2039112"/>
            <a:ext cx="1371600" cy="438912"/>
          </a:xfrm>
          <a:prstGeom prst="rect">
            <a:avLst/>
          </a:prstGeom>
          <a:solidFill>
            <a:srgbClr val="101038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0" y="2039112"/>
            <a:ext cx="2743200" cy="438912"/>
          </a:xfrm>
          <a:prstGeom prst="rect">
            <a:avLst/>
          </a:prstGeom>
          <a:solidFill>
            <a:srgbClr val="101038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130552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UIデザイナー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1305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1305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 8〜15 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96312"/>
            <a:ext cx="3474720" cy="438912"/>
          </a:xfrm>
          <a:prstGeom prst="rect">
            <a:avLst/>
          </a:prstGeom>
          <a:solidFill>
            <a:srgbClr val="121244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0" y="2496312"/>
            <a:ext cx="1371600" cy="438912"/>
          </a:xfrm>
          <a:prstGeom prst="rect">
            <a:avLst/>
          </a:prstGeom>
          <a:solidFill>
            <a:srgbClr val="121244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0" y="2496312"/>
            <a:ext cx="2743200" cy="438912"/>
          </a:xfrm>
          <a:prstGeom prst="rect">
            <a:avLst/>
          </a:prstGeom>
          <a:solidFill>
            <a:srgbClr val="121244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587752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QAエンジニア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5877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25877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 6〜10 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953512"/>
            <a:ext cx="3474720" cy="438912"/>
          </a:xfrm>
          <a:prstGeom prst="rect">
            <a:avLst/>
          </a:prstGeom>
          <a:solidFill>
            <a:srgbClr val="003388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2953512"/>
            <a:ext cx="1371600" cy="438912"/>
          </a:xfrm>
          <a:prstGeom prst="rect">
            <a:avLst/>
          </a:prstGeom>
          <a:solidFill>
            <a:srgbClr val="003388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03520" y="2953512"/>
            <a:ext cx="2743200" cy="438912"/>
          </a:xfrm>
          <a:prstGeom prst="rect">
            <a:avLst/>
          </a:prstGeom>
          <a:solidFill>
            <a:srgbClr val="003388"/>
          </a:solidFill>
          <a:ln w="6350">
            <a:solidFill>
              <a:srgbClr val="22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044952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AA"/>
                </a:solidFill>
              </a:rPr>
              <a:t>合計（α版 2ヶ月）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0449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AA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30449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AA"/>
                </a:solidFill>
              </a:rPr>
              <a:t>約 60〜150 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00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794760"/>
            <a:ext cx="73152" cy="10972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886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まずは α 版で Prompong / Thonglor 50 店を獲得し、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2245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「継続率・予約数・オーナー満足度」の数字を揃える。それが全ての起点。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5577AA"/>
                </a:solidFill>
              </a:rPr>
              <a:t>JEEB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